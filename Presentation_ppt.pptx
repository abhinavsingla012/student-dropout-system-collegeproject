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772" cy="709824"/>
          </a:xfrm>
          <a:custGeom>
            <a:avLst/>
            <a:gdLst/>
            <a:ahLst/>
            <a:cxnLst/>
            <a:rect r="r" b="b" t="t" l="l"/>
            <a:pathLst>
              <a:path h="709824" w="762772">
                <a:moveTo>
                  <a:pt x="0" y="0"/>
                </a:moveTo>
                <a:lnTo>
                  <a:pt x="762772" y="0"/>
                </a:lnTo>
                <a:lnTo>
                  <a:pt x="762772" y="709824"/>
                </a:lnTo>
                <a:lnTo>
                  <a:pt x="0" y="70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0797" y="1383612"/>
            <a:ext cx="6717290" cy="7299942"/>
          </a:xfrm>
          <a:custGeom>
            <a:avLst/>
            <a:gdLst/>
            <a:ahLst/>
            <a:cxnLst/>
            <a:rect r="r" b="b" t="t" l="l"/>
            <a:pathLst>
              <a:path h="7299942" w="6717290">
                <a:moveTo>
                  <a:pt x="0" y="0"/>
                </a:moveTo>
                <a:lnTo>
                  <a:pt x="6717290" y="0"/>
                </a:lnTo>
                <a:lnTo>
                  <a:pt x="6717290" y="7299942"/>
                </a:lnTo>
                <a:lnTo>
                  <a:pt x="0" y="7299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65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71843"/>
            <a:ext cx="9253225" cy="3269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40"/>
              </a:lnSpc>
            </a:pPr>
            <a:r>
              <a:rPr lang="en-US" b="true" sz="813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SDAS</a:t>
            </a:r>
          </a:p>
          <a:p>
            <a:pPr algn="l" marL="0" indent="0" lvl="0">
              <a:lnSpc>
                <a:spcPts val="8540"/>
              </a:lnSpc>
            </a:pPr>
            <a:r>
              <a:rPr lang="en-US" b="true" sz="813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Dropout</a:t>
            </a:r>
          </a:p>
          <a:p>
            <a:pPr algn="l" marL="0" indent="0" lvl="0">
              <a:lnSpc>
                <a:spcPts val="8540"/>
              </a:lnSpc>
            </a:pPr>
            <a:r>
              <a:rPr lang="en-US" b="true" sz="813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519831" y="-691855"/>
            <a:ext cx="1676063" cy="11497700"/>
            <a:chOff x="0" y="0"/>
            <a:chExt cx="441432" cy="3028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32" cy="3028201"/>
            </a:xfrm>
            <a:custGeom>
              <a:avLst/>
              <a:gdLst/>
              <a:ahLst/>
              <a:cxnLst/>
              <a:rect r="r" b="b" t="t" l="l"/>
              <a:pathLst>
                <a:path h="3028201" w="441432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62956" y="1020389"/>
            <a:ext cx="1870631" cy="21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4"/>
              </a:lnSpc>
              <a:spcBef>
                <a:spcPct val="0"/>
              </a:spcBef>
            </a:pPr>
            <a:r>
              <a:rPr lang="en-US" sz="126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Thynk Unlimited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26818"/>
            <a:ext cx="7880342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13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Predicting dropout risk and improving student retention through analytics and interventions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549313"/>
            <a:ext cx="7471831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Presenter: [Your Name]  |  College: [College Name]</a:t>
            </a:r>
          </a:p>
          <a:p>
            <a:pPr algn="just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Guide: [Guide Name]  |  Date: 2024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10477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191738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335726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2488" y="1872868"/>
            <a:ext cx="7826736" cy="6190860"/>
          </a:xfrm>
          <a:custGeom>
            <a:avLst/>
            <a:gdLst/>
            <a:ahLst/>
            <a:cxnLst/>
            <a:rect r="r" b="b" t="t" l="l"/>
            <a:pathLst>
              <a:path h="6190860" w="7826736">
                <a:moveTo>
                  <a:pt x="0" y="0"/>
                </a:moveTo>
                <a:lnTo>
                  <a:pt x="7826736" y="0"/>
                </a:lnTo>
                <a:lnTo>
                  <a:pt x="7826736" y="6190860"/>
                </a:lnTo>
                <a:lnTo>
                  <a:pt x="0" y="6190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211764"/>
            <a:ext cx="16230600" cy="1046536"/>
            <a:chOff x="0" y="0"/>
            <a:chExt cx="4274726" cy="275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75631"/>
            </a:xfrm>
            <a:custGeom>
              <a:avLst/>
              <a:gdLst/>
              <a:ahLst/>
              <a:cxnLst/>
              <a:rect r="r" b="b" t="t" l="l"/>
              <a:pathLst>
                <a:path h="275631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227931"/>
                  </a:lnTo>
                  <a:cubicBezTo>
                    <a:pt x="4274726" y="240582"/>
                    <a:pt x="4269700" y="252715"/>
                    <a:pt x="4260755" y="261660"/>
                  </a:cubicBezTo>
                  <a:cubicBezTo>
                    <a:pt x="4251809" y="270605"/>
                    <a:pt x="4239677" y="275631"/>
                    <a:pt x="4227026" y="275631"/>
                  </a:cubicBezTo>
                  <a:lnTo>
                    <a:pt x="47700" y="275631"/>
                  </a:lnTo>
                  <a:cubicBezTo>
                    <a:pt x="35049" y="275631"/>
                    <a:pt x="22916" y="270605"/>
                    <a:pt x="13971" y="261660"/>
                  </a:cubicBezTo>
                  <a:cubicBezTo>
                    <a:pt x="5025" y="252715"/>
                    <a:pt x="0" y="240582"/>
                    <a:pt x="0" y="22793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313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23950"/>
            <a:ext cx="7736587" cy="24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</a:p>
          <a:p>
            <a:pPr algn="l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45891"/>
            <a:ext cx="7140660" cy="377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Student dropout is a major challenge affecting education outcomes worldwide. Early identification is critical but often missed.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Contributing Factors: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Low attendance &amp; poor academic performance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Financial problems &amp; economic hardship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Long commute distances from school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Previous academic failures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• Family background &amp; social issues</a:t>
            </a:r>
          </a:p>
          <a:p>
            <a:pPr algn="just" marL="0" indent="0" lvl="0">
              <a:lnSpc>
                <a:spcPts val="2754"/>
              </a:lnSpc>
              <a:spcBef>
                <a:spcPct val="0"/>
              </a:spcBef>
            </a:pPr>
            <a:r>
              <a:rPr lang="en-US" sz="196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Manual tracking is time-consuming and error-prone, making timely intervention difficult.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32551"/>
            <a:ext cx="697231" cy="6972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47042" y="4332551"/>
            <a:ext cx="8399578" cy="697231"/>
            <a:chOff x="0" y="0"/>
            <a:chExt cx="2933836" cy="243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364008"/>
            <a:ext cx="697231" cy="6972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47042" y="5364008"/>
            <a:ext cx="8399578" cy="697231"/>
            <a:chOff x="0" y="0"/>
            <a:chExt cx="2933836" cy="243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395464"/>
            <a:ext cx="697231" cy="69723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7042" y="6395464"/>
            <a:ext cx="8399578" cy="697231"/>
            <a:chOff x="0" y="0"/>
            <a:chExt cx="2933836" cy="243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426921"/>
            <a:ext cx="697231" cy="69723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47042" y="7426921"/>
            <a:ext cx="8399578" cy="697231"/>
            <a:chOff x="0" y="0"/>
            <a:chExt cx="2933836" cy="2435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8458377"/>
            <a:ext cx="697231" cy="69723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7042" y="8458377"/>
            <a:ext cx="8399578" cy="697231"/>
            <a:chOff x="0" y="0"/>
            <a:chExt cx="2933836" cy="2435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933169" y="5169611"/>
            <a:ext cx="5541487" cy="3518844"/>
          </a:xfrm>
          <a:custGeom>
            <a:avLst/>
            <a:gdLst/>
            <a:ahLst/>
            <a:cxnLst/>
            <a:rect r="r" b="b" t="t" l="l"/>
            <a:pathLst>
              <a:path h="3518844" w="5541487">
                <a:moveTo>
                  <a:pt x="0" y="0"/>
                </a:moveTo>
                <a:lnTo>
                  <a:pt x="5541487" y="0"/>
                </a:lnTo>
                <a:lnTo>
                  <a:pt x="5541487" y="3518844"/>
                </a:lnTo>
                <a:lnTo>
                  <a:pt x="0" y="3518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253422" y="1123950"/>
            <a:ext cx="13781156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Objective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55682" y="4473179"/>
            <a:ext cx="8182298" cy="3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Early detection of at-risk students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9709" y="4383682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55682" y="5504636"/>
            <a:ext cx="8182298" cy="3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Facilitate school monitoring of student data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9709" y="5415138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55682" y="6536092"/>
            <a:ext cx="8182298" cy="3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Provide actionable insights for counselors and administrators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9709" y="6446595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55682" y="7567549"/>
            <a:ext cx="8182298" cy="3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Improve planning and effectiveness of interventions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9709" y="7478051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55682" y="8599005"/>
            <a:ext cx="8182298" cy="309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Enhance overall student retention rates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9709" y="8509508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53139" y="4300234"/>
            <a:ext cx="4391373" cy="89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72"/>
              </a:lnSpc>
              <a:spcBef>
                <a:spcPct val="0"/>
              </a:spcBef>
            </a:pPr>
            <a:r>
              <a:rPr lang="en-US" sz="1694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SDAS aims to empower educators with data-driven tools to identify and support at-risk students before dropout occurs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0258" y="-195490"/>
            <a:ext cx="7179042" cy="10655429"/>
            <a:chOff x="0" y="0"/>
            <a:chExt cx="1112221" cy="1650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2221" cy="1650805"/>
            </a:xfrm>
            <a:custGeom>
              <a:avLst/>
              <a:gdLst/>
              <a:ahLst/>
              <a:cxnLst/>
              <a:rect r="r" b="b" t="t" l="l"/>
              <a:pathLst>
                <a:path h="1650805" w="1112221">
                  <a:moveTo>
                    <a:pt x="0" y="0"/>
                  </a:moveTo>
                  <a:lnTo>
                    <a:pt x="1112221" y="0"/>
                  </a:lnTo>
                  <a:lnTo>
                    <a:pt x="1112221" y="1650805"/>
                  </a:lnTo>
                  <a:lnTo>
                    <a:pt x="0" y="1650805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493290" y="4865060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7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7" y="5594879"/>
                </a:lnTo>
                <a:lnTo>
                  <a:pt x="3804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8833896" cy="24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79838"/>
            <a:ext cx="8260459" cy="314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SDAS is a web-based Student Dropout Analysis System designed to predict risk and enable timely interventions.</a:t>
            </a:r>
          </a:p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✦ Student Data Integration — Centralized academic, attendance, and demographic records</a:t>
            </a:r>
          </a:p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✦ Risk Scoring Algorithms — Multi-factor dropout probability calculation</a:t>
            </a:r>
          </a:p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✦ Analytics Dashboards — Visual KPIs and trend charts for administrators</a:t>
            </a:r>
          </a:p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✦ Intervention Tracking — Log and monitor counseling actions with timelines</a:t>
            </a:r>
          </a:p>
          <a:p>
            <a:pPr algn="just" marL="0" indent="0" lvl="0">
              <a:lnSpc>
                <a:spcPts val="2490"/>
              </a:lnSpc>
              <a:spcBef>
                <a:spcPct val="0"/>
              </a:spcBef>
            </a:pPr>
            <a:r>
              <a:rPr lang="en-US" sz="177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✦ Counselor Assignment — Role-based access and real-time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272414"/>
            <a:ext cx="3703964" cy="4433883"/>
            <a:chOff x="0" y="0"/>
            <a:chExt cx="812800" cy="9729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72974"/>
            </a:xfrm>
            <a:custGeom>
              <a:avLst/>
              <a:gdLst/>
              <a:ahLst/>
              <a:cxnLst/>
              <a:rect r="r" b="b" t="t" l="l"/>
              <a:pathLst>
                <a:path h="972974" w="812800">
                  <a:moveTo>
                    <a:pt x="106599" y="0"/>
                  </a:moveTo>
                  <a:lnTo>
                    <a:pt x="706201" y="0"/>
                  </a:lnTo>
                  <a:cubicBezTo>
                    <a:pt x="765074" y="0"/>
                    <a:pt x="812800" y="47726"/>
                    <a:pt x="812800" y="106599"/>
                  </a:cubicBezTo>
                  <a:lnTo>
                    <a:pt x="812800" y="866375"/>
                  </a:lnTo>
                  <a:cubicBezTo>
                    <a:pt x="812800" y="925248"/>
                    <a:pt x="765074" y="972974"/>
                    <a:pt x="706201" y="972974"/>
                  </a:cubicBezTo>
                  <a:lnTo>
                    <a:pt x="106599" y="972974"/>
                  </a:lnTo>
                  <a:cubicBezTo>
                    <a:pt x="78327" y="972974"/>
                    <a:pt x="51213" y="961743"/>
                    <a:pt x="31222" y="941752"/>
                  </a:cubicBezTo>
                  <a:cubicBezTo>
                    <a:pt x="11231" y="921761"/>
                    <a:pt x="0" y="894647"/>
                    <a:pt x="0" y="866375"/>
                  </a:cubicBezTo>
                  <a:lnTo>
                    <a:pt x="0" y="106599"/>
                  </a:lnTo>
                  <a:cubicBezTo>
                    <a:pt x="0" y="47726"/>
                    <a:pt x="47726" y="0"/>
                    <a:pt x="106599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103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87176" y="4484815"/>
            <a:ext cx="1336135" cy="1009341"/>
          </a:xfrm>
          <a:custGeom>
            <a:avLst/>
            <a:gdLst/>
            <a:ahLst/>
            <a:cxnLst/>
            <a:rect r="r" b="b" t="t" l="l"/>
            <a:pathLst>
              <a:path h="1009341" w="1336135">
                <a:moveTo>
                  <a:pt x="0" y="0"/>
                </a:moveTo>
                <a:lnTo>
                  <a:pt x="1336135" y="0"/>
                </a:lnTo>
                <a:lnTo>
                  <a:pt x="1336135" y="1009340"/>
                </a:lnTo>
                <a:lnTo>
                  <a:pt x="0" y="100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04245" y="4272414"/>
            <a:ext cx="3703964" cy="4433883"/>
            <a:chOff x="0" y="0"/>
            <a:chExt cx="812800" cy="9729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972974"/>
            </a:xfrm>
            <a:custGeom>
              <a:avLst/>
              <a:gdLst/>
              <a:ahLst/>
              <a:cxnLst/>
              <a:rect r="r" b="b" t="t" l="l"/>
              <a:pathLst>
                <a:path h="972974" w="812800">
                  <a:moveTo>
                    <a:pt x="106599" y="0"/>
                  </a:moveTo>
                  <a:lnTo>
                    <a:pt x="706201" y="0"/>
                  </a:lnTo>
                  <a:cubicBezTo>
                    <a:pt x="765074" y="0"/>
                    <a:pt x="812800" y="47726"/>
                    <a:pt x="812800" y="106599"/>
                  </a:cubicBezTo>
                  <a:lnTo>
                    <a:pt x="812800" y="866375"/>
                  </a:lnTo>
                  <a:cubicBezTo>
                    <a:pt x="812800" y="925248"/>
                    <a:pt x="765074" y="972974"/>
                    <a:pt x="706201" y="972974"/>
                  </a:cubicBezTo>
                  <a:lnTo>
                    <a:pt x="106599" y="972974"/>
                  </a:lnTo>
                  <a:cubicBezTo>
                    <a:pt x="78327" y="972974"/>
                    <a:pt x="51213" y="961743"/>
                    <a:pt x="31222" y="941752"/>
                  </a:cubicBezTo>
                  <a:cubicBezTo>
                    <a:pt x="11231" y="921761"/>
                    <a:pt x="0" y="894647"/>
                    <a:pt x="0" y="866375"/>
                  </a:cubicBezTo>
                  <a:lnTo>
                    <a:pt x="0" y="106599"/>
                  </a:lnTo>
                  <a:cubicBezTo>
                    <a:pt x="0" y="47726"/>
                    <a:pt x="47726" y="0"/>
                    <a:pt x="106599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103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79791" y="4272414"/>
            <a:ext cx="3703964" cy="4433883"/>
            <a:chOff x="0" y="0"/>
            <a:chExt cx="812800" cy="9729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72974"/>
            </a:xfrm>
            <a:custGeom>
              <a:avLst/>
              <a:gdLst/>
              <a:ahLst/>
              <a:cxnLst/>
              <a:rect r="r" b="b" t="t" l="l"/>
              <a:pathLst>
                <a:path h="972974" w="812800">
                  <a:moveTo>
                    <a:pt x="106599" y="0"/>
                  </a:moveTo>
                  <a:lnTo>
                    <a:pt x="706201" y="0"/>
                  </a:lnTo>
                  <a:cubicBezTo>
                    <a:pt x="765074" y="0"/>
                    <a:pt x="812800" y="47726"/>
                    <a:pt x="812800" y="106599"/>
                  </a:cubicBezTo>
                  <a:lnTo>
                    <a:pt x="812800" y="866375"/>
                  </a:lnTo>
                  <a:cubicBezTo>
                    <a:pt x="812800" y="925248"/>
                    <a:pt x="765074" y="972974"/>
                    <a:pt x="706201" y="972974"/>
                  </a:cubicBezTo>
                  <a:lnTo>
                    <a:pt x="106599" y="972974"/>
                  </a:lnTo>
                  <a:cubicBezTo>
                    <a:pt x="78327" y="972974"/>
                    <a:pt x="51213" y="961743"/>
                    <a:pt x="31222" y="941752"/>
                  </a:cubicBezTo>
                  <a:cubicBezTo>
                    <a:pt x="11231" y="921761"/>
                    <a:pt x="0" y="894647"/>
                    <a:pt x="0" y="866375"/>
                  </a:cubicBezTo>
                  <a:lnTo>
                    <a:pt x="0" y="106599"/>
                  </a:lnTo>
                  <a:cubicBezTo>
                    <a:pt x="0" y="47726"/>
                    <a:pt x="47726" y="0"/>
                    <a:pt x="106599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103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55336" y="4272414"/>
            <a:ext cx="3703964" cy="4433883"/>
            <a:chOff x="0" y="0"/>
            <a:chExt cx="812800" cy="9729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972974"/>
            </a:xfrm>
            <a:custGeom>
              <a:avLst/>
              <a:gdLst/>
              <a:ahLst/>
              <a:cxnLst/>
              <a:rect r="r" b="b" t="t" l="l"/>
              <a:pathLst>
                <a:path h="972974" w="812800">
                  <a:moveTo>
                    <a:pt x="106599" y="0"/>
                  </a:moveTo>
                  <a:lnTo>
                    <a:pt x="706201" y="0"/>
                  </a:lnTo>
                  <a:cubicBezTo>
                    <a:pt x="765074" y="0"/>
                    <a:pt x="812800" y="47726"/>
                    <a:pt x="812800" y="106599"/>
                  </a:cubicBezTo>
                  <a:lnTo>
                    <a:pt x="812800" y="866375"/>
                  </a:lnTo>
                  <a:cubicBezTo>
                    <a:pt x="812800" y="925248"/>
                    <a:pt x="765074" y="972974"/>
                    <a:pt x="706201" y="972974"/>
                  </a:cubicBezTo>
                  <a:lnTo>
                    <a:pt x="106599" y="972974"/>
                  </a:lnTo>
                  <a:cubicBezTo>
                    <a:pt x="78327" y="972974"/>
                    <a:pt x="51213" y="961743"/>
                    <a:pt x="31222" y="941752"/>
                  </a:cubicBezTo>
                  <a:cubicBezTo>
                    <a:pt x="11231" y="921761"/>
                    <a:pt x="0" y="894647"/>
                    <a:pt x="0" y="866375"/>
                  </a:cubicBezTo>
                  <a:lnTo>
                    <a:pt x="0" y="106599"/>
                  </a:lnTo>
                  <a:cubicBezTo>
                    <a:pt x="0" y="47726"/>
                    <a:pt x="47726" y="0"/>
                    <a:pt x="106599" y="0"/>
                  </a:cubicBezTo>
                  <a:close/>
                </a:path>
              </a:pathLst>
            </a:custGeom>
            <a:ln w="38100" cap="rnd">
              <a:solidFill>
                <a:srgbClr val="343734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12800" cy="1030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476703" y="4514136"/>
            <a:ext cx="1165130" cy="945512"/>
          </a:xfrm>
          <a:custGeom>
            <a:avLst/>
            <a:gdLst/>
            <a:ahLst/>
            <a:cxnLst/>
            <a:rect r="r" b="b" t="t" l="l"/>
            <a:pathLst>
              <a:path h="945512" w="1165130">
                <a:moveTo>
                  <a:pt x="0" y="0"/>
                </a:moveTo>
                <a:lnTo>
                  <a:pt x="1165130" y="0"/>
                </a:lnTo>
                <a:lnTo>
                  <a:pt x="1165130" y="945513"/>
                </a:lnTo>
                <a:lnTo>
                  <a:pt x="0" y="945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66927" y="4379321"/>
            <a:ext cx="1072375" cy="1127333"/>
          </a:xfrm>
          <a:custGeom>
            <a:avLst/>
            <a:gdLst/>
            <a:ahLst/>
            <a:cxnLst/>
            <a:rect r="r" b="b" t="t" l="l"/>
            <a:pathLst>
              <a:path h="1127333" w="1072375">
                <a:moveTo>
                  <a:pt x="0" y="0"/>
                </a:moveTo>
                <a:lnTo>
                  <a:pt x="1072375" y="0"/>
                </a:lnTo>
                <a:lnTo>
                  <a:pt x="1072375" y="1127333"/>
                </a:lnTo>
                <a:lnTo>
                  <a:pt x="0" y="1127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02566" y="4571591"/>
            <a:ext cx="972730" cy="988798"/>
          </a:xfrm>
          <a:custGeom>
            <a:avLst/>
            <a:gdLst/>
            <a:ahLst/>
            <a:cxnLst/>
            <a:rect r="r" b="b" t="t" l="l"/>
            <a:pathLst>
              <a:path h="988798" w="972730">
                <a:moveTo>
                  <a:pt x="0" y="0"/>
                </a:moveTo>
                <a:lnTo>
                  <a:pt x="972730" y="0"/>
                </a:lnTo>
                <a:lnTo>
                  <a:pt x="972730" y="988798"/>
                </a:lnTo>
                <a:lnTo>
                  <a:pt x="0" y="988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123950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3987" y="5776939"/>
            <a:ext cx="2753390" cy="42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3987" y="6365530"/>
            <a:ext cx="2662434" cy="7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3"/>
              </a:lnSpc>
              <a:spcBef>
                <a:spcPct val="0"/>
              </a:spcBef>
            </a:pPr>
            <a:r>
              <a:rPr lang="en-US" b="true" sz="423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Vite + JS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3598" y="7364735"/>
            <a:ext cx="3374168" cy="85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239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HTML, CSS, Tailwind CSS, Vanilla JS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79532" y="5776939"/>
            <a:ext cx="2753390" cy="42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79532" y="6365530"/>
            <a:ext cx="2662434" cy="7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3"/>
              </a:lnSpc>
              <a:spcBef>
                <a:spcPct val="0"/>
              </a:spcBef>
            </a:pPr>
            <a:r>
              <a:rPr lang="en-US" b="true" sz="423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Node.js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69143" y="7364735"/>
            <a:ext cx="3374168" cy="42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239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Express.js REST 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55078" y="5776939"/>
            <a:ext cx="2753390" cy="42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55078" y="6365530"/>
            <a:ext cx="2662434" cy="7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23"/>
              </a:lnSpc>
              <a:spcBef>
                <a:spcPct val="0"/>
              </a:spcBef>
            </a:pPr>
            <a:r>
              <a:rPr lang="en-US" b="true" sz="4230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MongoDB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44689" y="7364735"/>
            <a:ext cx="3374168" cy="85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239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JSON / MongoDB storage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30623" y="5776939"/>
            <a:ext cx="2753390" cy="42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b="true" sz="2398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Tools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72691" y="6590559"/>
            <a:ext cx="3786609" cy="43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2798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Chart.js &amp; Socket.IO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20234" y="7364735"/>
            <a:ext cx="3374168" cy="85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239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JWT Auth, Real-time updates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0858" y="4910549"/>
            <a:ext cx="850467" cy="680373"/>
          </a:xfrm>
          <a:custGeom>
            <a:avLst/>
            <a:gdLst/>
            <a:ahLst/>
            <a:cxnLst/>
            <a:rect r="r" b="b" t="t" l="l"/>
            <a:pathLst>
              <a:path h="680373" w="850467">
                <a:moveTo>
                  <a:pt x="0" y="0"/>
                </a:moveTo>
                <a:lnTo>
                  <a:pt x="850467" y="0"/>
                </a:lnTo>
                <a:lnTo>
                  <a:pt x="850467" y="680374"/>
                </a:lnTo>
                <a:lnTo>
                  <a:pt x="0" y="680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2558" y="6428309"/>
            <a:ext cx="609857" cy="833974"/>
          </a:xfrm>
          <a:custGeom>
            <a:avLst/>
            <a:gdLst/>
            <a:ahLst/>
            <a:cxnLst/>
            <a:rect r="r" b="b" t="t" l="l"/>
            <a:pathLst>
              <a:path h="833974" w="609857">
                <a:moveTo>
                  <a:pt x="0" y="0"/>
                </a:moveTo>
                <a:lnTo>
                  <a:pt x="609857" y="0"/>
                </a:lnTo>
                <a:lnTo>
                  <a:pt x="609857" y="833974"/>
                </a:lnTo>
                <a:lnTo>
                  <a:pt x="0" y="833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0562" y="8420664"/>
            <a:ext cx="660005" cy="548487"/>
          </a:xfrm>
          <a:custGeom>
            <a:avLst/>
            <a:gdLst/>
            <a:ahLst/>
            <a:cxnLst/>
            <a:rect r="r" b="b" t="t" l="l"/>
            <a:pathLst>
              <a:path h="548487" w="660005">
                <a:moveTo>
                  <a:pt x="0" y="0"/>
                </a:moveTo>
                <a:lnTo>
                  <a:pt x="660005" y="0"/>
                </a:lnTo>
                <a:lnTo>
                  <a:pt x="660005" y="548486"/>
                </a:lnTo>
                <a:lnTo>
                  <a:pt x="0" y="548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47351" y="4850831"/>
            <a:ext cx="983893" cy="730719"/>
          </a:xfrm>
          <a:custGeom>
            <a:avLst/>
            <a:gdLst/>
            <a:ahLst/>
            <a:cxnLst/>
            <a:rect r="r" b="b" t="t" l="l"/>
            <a:pathLst>
              <a:path h="730719" w="983893">
                <a:moveTo>
                  <a:pt x="0" y="0"/>
                </a:moveTo>
                <a:lnTo>
                  <a:pt x="983893" y="0"/>
                </a:lnTo>
                <a:lnTo>
                  <a:pt x="983893" y="730719"/>
                </a:lnTo>
                <a:lnTo>
                  <a:pt x="0" y="730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0066" y="6495319"/>
            <a:ext cx="834799" cy="761629"/>
          </a:xfrm>
          <a:custGeom>
            <a:avLst/>
            <a:gdLst/>
            <a:ahLst/>
            <a:cxnLst/>
            <a:rect r="r" b="b" t="t" l="l"/>
            <a:pathLst>
              <a:path h="761629" w="834799">
                <a:moveTo>
                  <a:pt x="0" y="0"/>
                </a:moveTo>
                <a:lnTo>
                  <a:pt x="834799" y="0"/>
                </a:lnTo>
                <a:lnTo>
                  <a:pt x="834799" y="761629"/>
                </a:lnTo>
                <a:lnTo>
                  <a:pt x="0" y="761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113698" y="1028700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1145602" y="1145602"/>
                </a:moveTo>
                <a:lnTo>
                  <a:pt x="0" y="1145602"/>
                </a:lnTo>
                <a:lnTo>
                  <a:pt x="0" y="0"/>
                </a:lnTo>
                <a:lnTo>
                  <a:pt x="1145602" y="0"/>
                </a:lnTo>
                <a:lnTo>
                  <a:pt x="1145602" y="114560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23950"/>
            <a:ext cx="14608693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983189"/>
            <a:ext cx="12372743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SDAS is built as a Single Page Application (SPA) with modular page-based navigation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5596" y="4815942"/>
            <a:ext cx="2989961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Landing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25596" y="5262612"/>
            <a:ext cx="5189476" cy="71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Public entry point introducing SDAS with project overview and navigation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0613" y="6456585"/>
            <a:ext cx="2989961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Login Module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0613" y="6903256"/>
            <a:ext cx="6946016" cy="71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Role-based authentication for Admin and Counselor using JWT tokens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0613" y="8100330"/>
            <a:ext cx="2989961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0613" y="8547001"/>
            <a:ext cx="6946016" cy="71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Central hub showing KPIs, risk summaries, and recent intervention activity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58543" y="4816087"/>
            <a:ext cx="347300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Students Module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58543" y="5262757"/>
            <a:ext cx="6946016" cy="71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Student roster with search, filters, risk levels, and detailed profile views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8543" y="6459831"/>
            <a:ext cx="2989961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b="true" sz="1998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Module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8543" y="6906502"/>
            <a:ext cx="6946016" cy="71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Interactive charts for risk distribution, area analysis, and attendance simulation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16113698" y="8112698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893" y="2849772"/>
            <a:ext cx="1319382" cy="1518193"/>
          </a:xfrm>
          <a:custGeom>
            <a:avLst/>
            <a:gdLst/>
            <a:ahLst/>
            <a:cxnLst/>
            <a:rect r="r" b="b" t="t" l="l"/>
            <a:pathLst>
              <a:path h="1518193" w="1319382">
                <a:moveTo>
                  <a:pt x="0" y="0"/>
                </a:moveTo>
                <a:lnTo>
                  <a:pt x="1319382" y="0"/>
                </a:lnTo>
                <a:lnTo>
                  <a:pt x="1319382" y="1518193"/>
                </a:lnTo>
                <a:lnTo>
                  <a:pt x="0" y="151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0651" y="5197572"/>
            <a:ext cx="1103992" cy="1294431"/>
          </a:xfrm>
          <a:custGeom>
            <a:avLst/>
            <a:gdLst/>
            <a:ahLst/>
            <a:cxnLst/>
            <a:rect r="r" b="b" t="t" l="l"/>
            <a:pathLst>
              <a:path h="1294431" w="1103992">
                <a:moveTo>
                  <a:pt x="0" y="0"/>
                </a:moveTo>
                <a:lnTo>
                  <a:pt x="1103992" y="0"/>
                </a:lnTo>
                <a:lnTo>
                  <a:pt x="1103992" y="1294431"/>
                </a:lnTo>
                <a:lnTo>
                  <a:pt x="0" y="1294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7335" y="7537792"/>
            <a:ext cx="1642690" cy="1074295"/>
          </a:xfrm>
          <a:custGeom>
            <a:avLst/>
            <a:gdLst/>
            <a:ahLst/>
            <a:cxnLst/>
            <a:rect r="r" b="b" t="t" l="l"/>
            <a:pathLst>
              <a:path h="1074295" w="1642690">
                <a:moveTo>
                  <a:pt x="0" y="0"/>
                </a:moveTo>
                <a:lnTo>
                  <a:pt x="1642690" y="0"/>
                </a:lnTo>
                <a:lnTo>
                  <a:pt x="1642690" y="1074295"/>
                </a:lnTo>
                <a:lnTo>
                  <a:pt x="0" y="1074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059384" y="-675769"/>
            <a:ext cx="1773784" cy="11876099"/>
            <a:chOff x="0" y="0"/>
            <a:chExt cx="467170" cy="31278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170" cy="3127862"/>
            </a:xfrm>
            <a:custGeom>
              <a:avLst/>
              <a:gdLst/>
              <a:ahLst/>
              <a:cxnLst/>
              <a:rect r="r" b="b" t="t" l="l"/>
              <a:pathLst>
                <a:path h="3127862" w="467170">
                  <a:moveTo>
                    <a:pt x="0" y="0"/>
                  </a:moveTo>
                  <a:lnTo>
                    <a:pt x="467170" y="0"/>
                  </a:lnTo>
                  <a:lnTo>
                    <a:pt x="467170" y="3127862"/>
                  </a:lnTo>
                  <a:lnTo>
                    <a:pt x="0" y="3127862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170" cy="318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123950"/>
            <a:ext cx="13854017" cy="12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Functionalities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1627" y="3448376"/>
            <a:ext cx="8184679" cy="112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User login and authentication with role-based access (Admin, Counselor)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11627" y="5502165"/>
            <a:ext cx="11153876" cy="112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Student risk score calculation based on attendance, GPA, and multiple factors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11627" y="7554460"/>
            <a:ext cx="11153876" cy="112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Detailed student profiles with dropout probability scores and risk trends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261238"/>
            <a:ext cx="4964225" cy="3919267"/>
            <a:chOff x="0" y="0"/>
            <a:chExt cx="1307450" cy="1032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7450" cy="1032235"/>
            </a:xfrm>
            <a:custGeom>
              <a:avLst/>
              <a:gdLst/>
              <a:ahLst/>
              <a:cxnLst/>
              <a:rect r="r" b="b" t="t" l="l"/>
              <a:pathLst>
                <a:path h="1032235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52698"/>
                  </a:lnTo>
                  <a:cubicBezTo>
                    <a:pt x="1307450" y="973793"/>
                    <a:pt x="1299071" y="994023"/>
                    <a:pt x="1284154" y="1008939"/>
                  </a:cubicBezTo>
                  <a:cubicBezTo>
                    <a:pt x="1269238" y="1023855"/>
                    <a:pt x="1249008" y="1032235"/>
                    <a:pt x="1227914" y="1032235"/>
                  </a:cubicBezTo>
                  <a:lnTo>
                    <a:pt x="79537" y="1032235"/>
                  </a:lnTo>
                  <a:cubicBezTo>
                    <a:pt x="58442" y="1032235"/>
                    <a:pt x="38212" y="1023855"/>
                    <a:pt x="23296" y="1008939"/>
                  </a:cubicBezTo>
                  <a:cubicBezTo>
                    <a:pt x="8380" y="994023"/>
                    <a:pt x="0" y="973793"/>
                    <a:pt x="0" y="952698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1887" y="4261238"/>
            <a:ext cx="4964225" cy="3919267"/>
            <a:chOff x="0" y="0"/>
            <a:chExt cx="1307450" cy="1032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7450" cy="1032235"/>
            </a:xfrm>
            <a:custGeom>
              <a:avLst/>
              <a:gdLst/>
              <a:ahLst/>
              <a:cxnLst/>
              <a:rect r="r" b="b" t="t" l="l"/>
              <a:pathLst>
                <a:path h="1032235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52698"/>
                  </a:lnTo>
                  <a:cubicBezTo>
                    <a:pt x="1307450" y="973793"/>
                    <a:pt x="1299071" y="994023"/>
                    <a:pt x="1284154" y="1008939"/>
                  </a:cubicBezTo>
                  <a:cubicBezTo>
                    <a:pt x="1269238" y="1023855"/>
                    <a:pt x="1249008" y="1032235"/>
                    <a:pt x="1227914" y="1032235"/>
                  </a:cubicBezTo>
                  <a:lnTo>
                    <a:pt x="79537" y="1032235"/>
                  </a:lnTo>
                  <a:cubicBezTo>
                    <a:pt x="58442" y="1032235"/>
                    <a:pt x="38212" y="1023855"/>
                    <a:pt x="23296" y="1008939"/>
                  </a:cubicBezTo>
                  <a:cubicBezTo>
                    <a:pt x="8380" y="994023"/>
                    <a:pt x="0" y="973793"/>
                    <a:pt x="0" y="952698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95075" y="4261238"/>
            <a:ext cx="4964225" cy="3919267"/>
            <a:chOff x="0" y="0"/>
            <a:chExt cx="1307450" cy="1032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7450" cy="1032235"/>
            </a:xfrm>
            <a:custGeom>
              <a:avLst/>
              <a:gdLst/>
              <a:ahLst/>
              <a:cxnLst/>
              <a:rect r="r" b="b" t="t" l="l"/>
              <a:pathLst>
                <a:path h="1032235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52698"/>
                  </a:lnTo>
                  <a:cubicBezTo>
                    <a:pt x="1307450" y="973793"/>
                    <a:pt x="1299071" y="994023"/>
                    <a:pt x="1284154" y="1008939"/>
                  </a:cubicBezTo>
                  <a:cubicBezTo>
                    <a:pt x="1269238" y="1023855"/>
                    <a:pt x="1249008" y="1032235"/>
                    <a:pt x="1227914" y="1032235"/>
                  </a:cubicBezTo>
                  <a:lnTo>
                    <a:pt x="79537" y="1032235"/>
                  </a:lnTo>
                  <a:cubicBezTo>
                    <a:pt x="58442" y="1032235"/>
                    <a:pt x="38212" y="1023855"/>
                    <a:pt x="23296" y="1008939"/>
                  </a:cubicBezTo>
                  <a:cubicBezTo>
                    <a:pt x="8380" y="994023"/>
                    <a:pt x="0" y="973793"/>
                    <a:pt x="0" y="952698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610215" y="8847255"/>
            <a:ext cx="20321213" cy="701393"/>
            <a:chOff x="0" y="0"/>
            <a:chExt cx="5352089" cy="184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52089" cy="184729"/>
            </a:xfrm>
            <a:custGeom>
              <a:avLst/>
              <a:gdLst/>
              <a:ahLst/>
              <a:cxnLst/>
              <a:rect r="r" b="b" t="t" l="l"/>
              <a:pathLst>
                <a:path h="184729" w="5352089">
                  <a:moveTo>
                    <a:pt x="0" y="0"/>
                  </a:moveTo>
                  <a:lnTo>
                    <a:pt x="5352089" y="0"/>
                  </a:lnTo>
                  <a:lnTo>
                    <a:pt x="5352089" y="184729"/>
                  </a:lnTo>
                  <a:lnTo>
                    <a:pt x="0" y="184729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352089" cy="241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00003" y="1123950"/>
            <a:ext cx="14287995" cy="24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3"/>
              </a:lnSpc>
            </a:pPr>
            <a:r>
              <a:rPr lang="en-US" b="true" sz="879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KPI Highlights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5898" y="4312297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34%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0859" y="5880382"/>
            <a:ext cx="4739907" cy="198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4"/>
              </a:lnSpc>
            </a:pPr>
            <a:r>
              <a:rPr lang="en-US" sz="5995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High-Risk Students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69085" y="4312297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72%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4046" y="5880382"/>
            <a:ext cx="4739907" cy="198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4"/>
              </a:lnSpc>
            </a:pPr>
            <a:r>
              <a:rPr lang="en-US" sz="5995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Avg. Attendance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02273" y="4312297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Key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07234" y="5880382"/>
            <a:ext cx="4739907" cy="198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4"/>
              </a:lnSpc>
            </a:pPr>
            <a:r>
              <a:rPr lang="en-US" sz="5995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Risk Drivers Flagged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298857"/>
            <a:ext cx="3003266" cy="760738"/>
            <a:chOff x="0" y="0"/>
            <a:chExt cx="790984" cy="200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0984" cy="200359"/>
            </a:xfrm>
            <a:custGeom>
              <a:avLst/>
              <a:gdLst/>
              <a:ahLst/>
              <a:cxnLst/>
              <a:rect r="r" b="b" t="t" l="l"/>
              <a:pathLst>
                <a:path h="200359" w="790984">
                  <a:moveTo>
                    <a:pt x="100180" y="0"/>
                  </a:moveTo>
                  <a:lnTo>
                    <a:pt x="690804" y="0"/>
                  </a:lnTo>
                  <a:cubicBezTo>
                    <a:pt x="746132" y="0"/>
                    <a:pt x="790984" y="44852"/>
                    <a:pt x="790984" y="100180"/>
                  </a:cubicBezTo>
                  <a:lnTo>
                    <a:pt x="790984" y="100180"/>
                  </a:lnTo>
                  <a:cubicBezTo>
                    <a:pt x="790984" y="155507"/>
                    <a:pt x="746132" y="200359"/>
                    <a:pt x="690804" y="200359"/>
                  </a:cubicBezTo>
                  <a:lnTo>
                    <a:pt x="100180" y="200359"/>
                  </a:lnTo>
                  <a:cubicBezTo>
                    <a:pt x="44852" y="200359"/>
                    <a:pt x="0" y="155507"/>
                    <a:pt x="0" y="100180"/>
                  </a:cubicBezTo>
                  <a:lnTo>
                    <a:pt x="0" y="100180"/>
                  </a:lnTo>
                  <a:cubicBezTo>
                    <a:pt x="0" y="44852"/>
                    <a:pt x="44852" y="0"/>
                    <a:pt x="10018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90984" cy="23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35534" y="5298857"/>
            <a:ext cx="3003266" cy="760738"/>
            <a:chOff x="0" y="0"/>
            <a:chExt cx="790984" cy="2003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0984" cy="200359"/>
            </a:xfrm>
            <a:custGeom>
              <a:avLst/>
              <a:gdLst/>
              <a:ahLst/>
              <a:cxnLst/>
              <a:rect r="r" b="b" t="t" l="l"/>
              <a:pathLst>
                <a:path h="200359" w="790984">
                  <a:moveTo>
                    <a:pt x="100180" y="0"/>
                  </a:moveTo>
                  <a:lnTo>
                    <a:pt x="690804" y="0"/>
                  </a:lnTo>
                  <a:cubicBezTo>
                    <a:pt x="746132" y="0"/>
                    <a:pt x="790984" y="44852"/>
                    <a:pt x="790984" y="100180"/>
                  </a:cubicBezTo>
                  <a:lnTo>
                    <a:pt x="790984" y="100180"/>
                  </a:lnTo>
                  <a:cubicBezTo>
                    <a:pt x="790984" y="155507"/>
                    <a:pt x="746132" y="200359"/>
                    <a:pt x="690804" y="200359"/>
                  </a:cubicBezTo>
                  <a:lnTo>
                    <a:pt x="100180" y="200359"/>
                  </a:lnTo>
                  <a:cubicBezTo>
                    <a:pt x="44852" y="200359"/>
                    <a:pt x="0" y="155507"/>
                    <a:pt x="0" y="100180"/>
                  </a:cubicBezTo>
                  <a:lnTo>
                    <a:pt x="0" y="100180"/>
                  </a:lnTo>
                  <a:cubicBezTo>
                    <a:pt x="0" y="44852"/>
                    <a:pt x="44852" y="0"/>
                    <a:pt x="10018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90984" cy="23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42367" y="5298857"/>
            <a:ext cx="3003266" cy="760738"/>
            <a:chOff x="0" y="0"/>
            <a:chExt cx="790984" cy="200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984" cy="200359"/>
            </a:xfrm>
            <a:custGeom>
              <a:avLst/>
              <a:gdLst/>
              <a:ahLst/>
              <a:cxnLst/>
              <a:rect r="r" b="b" t="t" l="l"/>
              <a:pathLst>
                <a:path h="200359" w="790984">
                  <a:moveTo>
                    <a:pt x="100180" y="0"/>
                  </a:moveTo>
                  <a:lnTo>
                    <a:pt x="690804" y="0"/>
                  </a:lnTo>
                  <a:cubicBezTo>
                    <a:pt x="746132" y="0"/>
                    <a:pt x="790984" y="44852"/>
                    <a:pt x="790984" y="100180"/>
                  </a:cubicBezTo>
                  <a:lnTo>
                    <a:pt x="790984" y="100180"/>
                  </a:lnTo>
                  <a:cubicBezTo>
                    <a:pt x="790984" y="155507"/>
                    <a:pt x="746132" y="200359"/>
                    <a:pt x="690804" y="200359"/>
                  </a:cubicBezTo>
                  <a:lnTo>
                    <a:pt x="100180" y="200359"/>
                  </a:lnTo>
                  <a:cubicBezTo>
                    <a:pt x="44852" y="200359"/>
                    <a:pt x="0" y="155507"/>
                    <a:pt x="0" y="100180"/>
                  </a:cubicBezTo>
                  <a:lnTo>
                    <a:pt x="0" y="100180"/>
                  </a:lnTo>
                  <a:cubicBezTo>
                    <a:pt x="0" y="44852"/>
                    <a:pt x="44852" y="0"/>
                    <a:pt x="10018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90984" cy="23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49201" y="5298857"/>
            <a:ext cx="3003266" cy="760738"/>
            <a:chOff x="0" y="0"/>
            <a:chExt cx="790984" cy="2003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0984" cy="200359"/>
            </a:xfrm>
            <a:custGeom>
              <a:avLst/>
              <a:gdLst/>
              <a:ahLst/>
              <a:cxnLst/>
              <a:rect r="r" b="b" t="t" l="l"/>
              <a:pathLst>
                <a:path h="200359" w="790984">
                  <a:moveTo>
                    <a:pt x="100180" y="0"/>
                  </a:moveTo>
                  <a:lnTo>
                    <a:pt x="690804" y="0"/>
                  </a:lnTo>
                  <a:cubicBezTo>
                    <a:pt x="746132" y="0"/>
                    <a:pt x="790984" y="44852"/>
                    <a:pt x="790984" y="100180"/>
                  </a:cubicBezTo>
                  <a:lnTo>
                    <a:pt x="790984" y="100180"/>
                  </a:lnTo>
                  <a:cubicBezTo>
                    <a:pt x="790984" y="155507"/>
                    <a:pt x="746132" y="200359"/>
                    <a:pt x="690804" y="200359"/>
                  </a:cubicBezTo>
                  <a:lnTo>
                    <a:pt x="100180" y="200359"/>
                  </a:lnTo>
                  <a:cubicBezTo>
                    <a:pt x="44852" y="200359"/>
                    <a:pt x="0" y="155507"/>
                    <a:pt x="0" y="100180"/>
                  </a:cubicBezTo>
                  <a:lnTo>
                    <a:pt x="0" y="100180"/>
                  </a:lnTo>
                  <a:cubicBezTo>
                    <a:pt x="0" y="44852"/>
                    <a:pt x="44852" y="0"/>
                    <a:pt x="10018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90984" cy="23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56034" y="5298857"/>
            <a:ext cx="3003266" cy="760738"/>
            <a:chOff x="0" y="0"/>
            <a:chExt cx="790984" cy="2003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0984" cy="200359"/>
            </a:xfrm>
            <a:custGeom>
              <a:avLst/>
              <a:gdLst/>
              <a:ahLst/>
              <a:cxnLst/>
              <a:rect r="r" b="b" t="t" l="l"/>
              <a:pathLst>
                <a:path h="200359" w="790984">
                  <a:moveTo>
                    <a:pt x="100180" y="0"/>
                  </a:moveTo>
                  <a:lnTo>
                    <a:pt x="690804" y="0"/>
                  </a:lnTo>
                  <a:cubicBezTo>
                    <a:pt x="746132" y="0"/>
                    <a:pt x="790984" y="44852"/>
                    <a:pt x="790984" y="100180"/>
                  </a:cubicBezTo>
                  <a:lnTo>
                    <a:pt x="790984" y="100180"/>
                  </a:lnTo>
                  <a:cubicBezTo>
                    <a:pt x="790984" y="155507"/>
                    <a:pt x="746132" y="200359"/>
                    <a:pt x="690804" y="200359"/>
                  </a:cubicBezTo>
                  <a:lnTo>
                    <a:pt x="100180" y="200359"/>
                  </a:lnTo>
                  <a:cubicBezTo>
                    <a:pt x="44852" y="200359"/>
                    <a:pt x="0" y="155507"/>
                    <a:pt x="0" y="100180"/>
                  </a:cubicBezTo>
                  <a:lnTo>
                    <a:pt x="0" y="100180"/>
                  </a:lnTo>
                  <a:cubicBezTo>
                    <a:pt x="0" y="44852"/>
                    <a:pt x="44852" y="0"/>
                    <a:pt x="10018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90984" cy="238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4696" y="7021621"/>
            <a:ext cx="16230600" cy="3019952"/>
            <a:chOff x="0" y="0"/>
            <a:chExt cx="2514545" cy="4678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14545" cy="467870"/>
            </a:xfrm>
            <a:custGeom>
              <a:avLst/>
              <a:gdLst/>
              <a:ahLst/>
              <a:cxnLst/>
              <a:rect r="r" b="b" t="t" l="l"/>
              <a:pathLst>
                <a:path h="467870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467870"/>
                  </a:lnTo>
                  <a:lnTo>
                    <a:pt x="0" y="467870"/>
                  </a:lnTo>
                  <a:close/>
                </a:path>
              </a:pathLst>
            </a:custGeom>
            <a:blipFill>
              <a:blip r:embed="rId2"/>
              <a:stretch>
                <a:fillRect l="0" t="-20942" r="0" b="-8933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00104" y="1123950"/>
            <a:ext cx="15487792" cy="12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Management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3161" y="2911547"/>
            <a:ext cx="14921678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The student roster provides powerful search and filtering capabilities by risk level, geographic area, and economic status. Each student profile displays a comprehensive view of key indicators to support counselor decision-making and timely intervention. Profiles include attendance records, GPA trends, dropout probability scores, and dynamic risk trend graphs — enabling administrators and counselors to quickly identify and act on students who need support.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4696" y="5343641"/>
            <a:ext cx="2871274" cy="5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311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Risk Level Filter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1529" y="5343641"/>
            <a:ext cx="2871274" cy="5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311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Attendance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08363" y="5343641"/>
            <a:ext cx="2871274" cy="5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311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GPA Trends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15197" y="5343641"/>
            <a:ext cx="2871274" cy="5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311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Dropout Score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22030" y="5343641"/>
            <a:ext cx="2871274" cy="5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9"/>
              </a:lnSpc>
              <a:spcBef>
                <a:spcPct val="0"/>
              </a:spcBef>
            </a:pPr>
            <a:r>
              <a:rPr lang="en-US" sz="3113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Risk Graphs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32551"/>
            <a:ext cx="697231" cy="69723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47042" y="4332551"/>
            <a:ext cx="8399578" cy="697231"/>
            <a:chOff x="0" y="0"/>
            <a:chExt cx="2933836" cy="243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364008"/>
            <a:ext cx="697231" cy="69723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47042" y="5364008"/>
            <a:ext cx="8399578" cy="697231"/>
            <a:chOff x="0" y="0"/>
            <a:chExt cx="2933836" cy="2435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395464"/>
            <a:ext cx="697231" cy="69723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7042" y="6395464"/>
            <a:ext cx="8399578" cy="697231"/>
            <a:chOff x="0" y="0"/>
            <a:chExt cx="2933836" cy="2435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7426921"/>
            <a:ext cx="697231" cy="69723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47042" y="7426921"/>
            <a:ext cx="8399578" cy="697231"/>
            <a:chOff x="0" y="0"/>
            <a:chExt cx="2933836" cy="2435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8458377"/>
            <a:ext cx="697231" cy="69723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7042" y="8458377"/>
            <a:ext cx="8399578" cy="697231"/>
            <a:chOff x="0" y="0"/>
            <a:chExt cx="2933836" cy="2435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33836" cy="243532"/>
            </a:xfrm>
            <a:custGeom>
              <a:avLst/>
              <a:gdLst/>
              <a:ahLst/>
              <a:cxnLst/>
              <a:rect r="r" b="b" t="t" l="l"/>
              <a:pathLst>
                <a:path h="243532" w="2933836">
                  <a:moveTo>
                    <a:pt x="47007" y="0"/>
                  </a:moveTo>
                  <a:lnTo>
                    <a:pt x="2886829" y="0"/>
                  </a:lnTo>
                  <a:cubicBezTo>
                    <a:pt x="2899296" y="0"/>
                    <a:pt x="2911252" y="4952"/>
                    <a:pt x="2920068" y="13768"/>
                  </a:cubicBezTo>
                  <a:cubicBezTo>
                    <a:pt x="2928883" y="22583"/>
                    <a:pt x="2933836" y="34540"/>
                    <a:pt x="2933836" y="47007"/>
                  </a:cubicBezTo>
                  <a:lnTo>
                    <a:pt x="2933836" y="196525"/>
                  </a:lnTo>
                  <a:cubicBezTo>
                    <a:pt x="2933836" y="208992"/>
                    <a:pt x="2928883" y="220948"/>
                    <a:pt x="2920068" y="229764"/>
                  </a:cubicBezTo>
                  <a:cubicBezTo>
                    <a:pt x="2911252" y="238579"/>
                    <a:pt x="2899296" y="243532"/>
                    <a:pt x="2886829" y="243532"/>
                  </a:cubicBezTo>
                  <a:lnTo>
                    <a:pt x="47007" y="243532"/>
                  </a:lnTo>
                  <a:cubicBezTo>
                    <a:pt x="34540" y="243532"/>
                    <a:pt x="22583" y="238579"/>
                    <a:pt x="13768" y="229764"/>
                  </a:cubicBezTo>
                  <a:cubicBezTo>
                    <a:pt x="4952" y="220948"/>
                    <a:pt x="0" y="208992"/>
                    <a:pt x="0" y="196525"/>
                  </a:cubicBezTo>
                  <a:lnTo>
                    <a:pt x="0" y="47007"/>
                  </a:lnTo>
                  <a:cubicBezTo>
                    <a:pt x="0" y="34540"/>
                    <a:pt x="4952" y="22583"/>
                    <a:pt x="13768" y="13768"/>
                  </a:cubicBezTo>
                  <a:cubicBezTo>
                    <a:pt x="22583" y="4952"/>
                    <a:pt x="34540" y="0"/>
                    <a:pt x="4700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933836" cy="28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241833" y="5255517"/>
            <a:ext cx="5023219" cy="3509974"/>
          </a:xfrm>
          <a:custGeom>
            <a:avLst/>
            <a:gdLst/>
            <a:ahLst/>
            <a:cxnLst/>
            <a:rect r="r" b="b" t="t" l="l"/>
            <a:pathLst>
              <a:path h="3509974" w="5023219">
                <a:moveTo>
                  <a:pt x="0" y="0"/>
                </a:moveTo>
                <a:lnTo>
                  <a:pt x="5023218" y="0"/>
                </a:lnTo>
                <a:lnTo>
                  <a:pt x="5023218" y="3509974"/>
                </a:lnTo>
                <a:lnTo>
                  <a:pt x="0" y="350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253422" y="1123950"/>
            <a:ext cx="13781156" cy="245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3"/>
              </a:lnSpc>
            </a:pPr>
            <a:r>
              <a:rPr lang="en-US" b="true" sz="879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 &amp; Prediction Functionality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55682" y="4473179"/>
            <a:ext cx="818229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Attendance &amp; GPA — primary risk score drivers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9709" y="4383682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55682" y="5504636"/>
            <a:ext cx="818229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Economic status &amp; commute distance factors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9709" y="5415138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55682" y="6536092"/>
            <a:ext cx="818229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Previous failures &amp; parent education level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39709" y="6446595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55682" y="7567549"/>
            <a:ext cx="818229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Risk distribution, area map &amp; grade-wise charts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9709" y="7478051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55682" y="8599005"/>
            <a:ext cx="8182298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Economic group analysis &amp; attendance simulation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9709" y="8509508"/>
            <a:ext cx="875213" cy="53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53139" y="4300234"/>
            <a:ext cx="4391373" cy="106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Supports data-driven decisions to identify and act on at-risk students early and effectively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021" y="4773929"/>
            <a:ext cx="12105053" cy="907317"/>
            <a:chOff x="0" y="0"/>
            <a:chExt cx="3188162" cy="238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021" y="6119396"/>
            <a:ext cx="12105053" cy="907317"/>
            <a:chOff x="0" y="0"/>
            <a:chExt cx="3188162" cy="23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021" y="7464863"/>
            <a:ext cx="12105053" cy="907317"/>
            <a:chOff x="0" y="0"/>
            <a:chExt cx="3188162" cy="238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36845" y="-197439"/>
            <a:ext cx="3765505" cy="11168682"/>
            <a:chOff x="0" y="0"/>
            <a:chExt cx="991738" cy="2941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738" cy="2941546"/>
            </a:xfrm>
            <a:custGeom>
              <a:avLst/>
              <a:gdLst/>
              <a:ahLst/>
              <a:cxnLst/>
              <a:rect r="r" b="b" t="t" l="l"/>
              <a:pathLst>
                <a:path h="2941546" w="991738">
                  <a:moveTo>
                    <a:pt x="0" y="0"/>
                  </a:moveTo>
                  <a:lnTo>
                    <a:pt x="991738" y="0"/>
                  </a:lnTo>
                  <a:lnTo>
                    <a:pt x="991738" y="2941546"/>
                  </a:lnTo>
                  <a:lnTo>
                    <a:pt x="0" y="2941546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1738" cy="297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114425"/>
            <a:ext cx="13854017" cy="242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70"/>
              </a:lnSpc>
            </a:pPr>
            <a:r>
              <a:rPr lang="en-US" b="true" sz="860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Intervention &amp; Counselor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76954"/>
            <a:ext cx="13854017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pc="465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Structured support mechanisms to guide at-risk students back on track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4240" y="4981855"/>
            <a:ext cx="11310614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✔ Counseling sessions, parent meetings, and academic support logging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6664" y="6328946"/>
            <a:ext cx="11905766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✔ Financial aid and mentorship program tracking per student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994" y="7672789"/>
            <a:ext cx="12795106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✔ Admin assigns counselors; real-time updates via Socket.IO 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03743"/>
            <a:ext cx="5176543" cy="2934108"/>
            <a:chOff x="0" y="0"/>
            <a:chExt cx="1363369" cy="7727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55729" y="3103743"/>
            <a:ext cx="5176543" cy="2934108"/>
            <a:chOff x="0" y="0"/>
            <a:chExt cx="1363369" cy="772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84696" y="3103743"/>
            <a:ext cx="5176543" cy="2934108"/>
            <a:chOff x="0" y="0"/>
            <a:chExt cx="1363369" cy="772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40222" y="6324192"/>
            <a:ext cx="5176543" cy="2934108"/>
            <a:chOff x="0" y="0"/>
            <a:chExt cx="1363369" cy="7727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67250" y="6324192"/>
            <a:ext cx="5176543" cy="2934108"/>
            <a:chOff x="0" y="0"/>
            <a:chExt cx="1363369" cy="7727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58179" y="7881805"/>
            <a:ext cx="1595068" cy="1149454"/>
          </a:xfrm>
          <a:custGeom>
            <a:avLst/>
            <a:gdLst/>
            <a:ahLst/>
            <a:cxnLst/>
            <a:rect r="r" b="b" t="t" l="l"/>
            <a:pathLst>
              <a:path h="1149454" w="1595068">
                <a:moveTo>
                  <a:pt x="0" y="0"/>
                </a:moveTo>
                <a:lnTo>
                  <a:pt x="1595068" y="0"/>
                </a:lnTo>
                <a:lnTo>
                  <a:pt x="1595068" y="1149454"/>
                </a:lnTo>
                <a:lnTo>
                  <a:pt x="0" y="114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26711" y="1123950"/>
            <a:ext cx="16034578" cy="12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3"/>
              </a:lnSpc>
            </a:pPr>
            <a:r>
              <a:rPr lang="en-US" b="true" sz="879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Workflow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4398" y="3880254"/>
            <a:ext cx="4460007" cy="3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Login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4398" y="4332169"/>
            <a:ext cx="4221162" cy="91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Admin or Counselor logs in with role-based JWT authentication to access the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398" y="3161459"/>
            <a:ext cx="875213" cy="6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0"/>
              </a:lnSpc>
              <a:spcBef>
                <a:spcPct val="0"/>
              </a:spcBef>
            </a:pPr>
            <a:r>
              <a:rPr lang="en-US" b="true" sz="375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1427" y="3880254"/>
            <a:ext cx="4460007" cy="3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 Data Fetch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1427" y="4332169"/>
            <a:ext cx="4221162" cy="91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System retrieves student records including attendance, GPA, economic status, and commute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81427" y="3161459"/>
            <a:ext cx="875213" cy="6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0"/>
              </a:lnSpc>
              <a:spcBef>
                <a:spcPct val="0"/>
              </a:spcBef>
            </a:pPr>
            <a:r>
              <a:rPr lang="en-US" b="true" sz="375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10394" y="3880254"/>
            <a:ext cx="4460007" cy="3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Calculation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10394" y="4332169"/>
            <a:ext cx="4221162" cy="122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Dropout risk scores are computed using multi-factor algorithm and displayed on the analytics dashboard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10394" y="3161459"/>
            <a:ext cx="875213" cy="6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0"/>
              </a:lnSpc>
              <a:spcBef>
                <a:spcPct val="0"/>
              </a:spcBef>
            </a:pPr>
            <a:r>
              <a:rPr lang="en-US" b="true" sz="375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65920" y="7100703"/>
            <a:ext cx="4460007" cy="3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 Student &amp; Log Intervention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965920" y="7552619"/>
            <a:ext cx="4221162" cy="91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Counselor reviews at-risk student profile and logs intervention such as counseling or academic support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65920" y="6381908"/>
            <a:ext cx="875213" cy="6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0"/>
              </a:lnSpc>
              <a:spcBef>
                <a:spcPct val="0"/>
              </a:spcBef>
            </a:pPr>
            <a:r>
              <a:rPr lang="en-US" b="true" sz="375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92949" y="7100703"/>
            <a:ext cx="4460007" cy="3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4"/>
              </a:lnSpc>
              <a:spcBef>
                <a:spcPct val="0"/>
              </a:spcBef>
            </a:pPr>
            <a:r>
              <a:rPr lang="en-US" b="true" sz="178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Assign Counselor &amp; Real-time Update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92949" y="7552619"/>
            <a:ext cx="4221162" cy="91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0"/>
              </a:lnSpc>
              <a:spcBef>
                <a:spcPct val="0"/>
              </a:spcBef>
            </a:pPr>
            <a:r>
              <a:rPr lang="en-US" sz="1757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Admin assigns counselor to student; Socket.IO pushes real-time notifications to all relevant users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92949" y="6381908"/>
            <a:ext cx="875213" cy="63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0"/>
              </a:lnSpc>
              <a:spcBef>
                <a:spcPct val="0"/>
              </a:spcBef>
            </a:pPr>
            <a:r>
              <a:rPr lang="en-US" b="true" sz="3757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5917873" y="7861101"/>
            <a:ext cx="1195848" cy="1142035"/>
          </a:xfrm>
          <a:custGeom>
            <a:avLst/>
            <a:gdLst/>
            <a:ahLst/>
            <a:cxnLst/>
            <a:rect r="r" b="b" t="t" l="l"/>
            <a:pathLst>
              <a:path h="1142035" w="1195848">
                <a:moveTo>
                  <a:pt x="0" y="0"/>
                </a:moveTo>
                <a:lnTo>
                  <a:pt x="1195848" y="0"/>
                </a:lnTo>
                <a:lnTo>
                  <a:pt x="1195848" y="1142034"/>
                </a:lnTo>
                <a:lnTo>
                  <a:pt x="0" y="1142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021" y="4773929"/>
            <a:ext cx="12105053" cy="907317"/>
            <a:chOff x="0" y="0"/>
            <a:chExt cx="3188162" cy="238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7021" y="6119396"/>
            <a:ext cx="12105053" cy="907317"/>
            <a:chOff x="0" y="0"/>
            <a:chExt cx="3188162" cy="23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021" y="7464863"/>
            <a:ext cx="12105053" cy="907317"/>
            <a:chOff x="0" y="0"/>
            <a:chExt cx="3188162" cy="238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36845" y="-197439"/>
            <a:ext cx="3765505" cy="11168682"/>
            <a:chOff x="0" y="0"/>
            <a:chExt cx="991738" cy="2941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738" cy="2941546"/>
            </a:xfrm>
            <a:custGeom>
              <a:avLst/>
              <a:gdLst/>
              <a:ahLst/>
              <a:cxnLst/>
              <a:rect r="r" b="b" t="t" l="l"/>
              <a:pathLst>
                <a:path h="2941546" w="991738">
                  <a:moveTo>
                    <a:pt x="0" y="0"/>
                  </a:moveTo>
                  <a:lnTo>
                    <a:pt x="991738" y="0"/>
                  </a:lnTo>
                  <a:lnTo>
                    <a:pt x="991738" y="2941546"/>
                  </a:lnTo>
                  <a:lnTo>
                    <a:pt x="0" y="2941546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1738" cy="297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123950"/>
            <a:ext cx="13854017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Benefits &amp;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986479"/>
            <a:ext cx="13854017" cy="3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 spc="448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How SDAS creates measurable value for students, counselors, and institutions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4240" y="4991380"/>
            <a:ext cx="11310614" cy="4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Early identification of dropout risk enables timely, targeted interventions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6664" y="6338471"/>
            <a:ext cx="11905766" cy="4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Data-driven decisions improve school strategies and counselor effectiveness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1994" y="7682314"/>
            <a:ext cx="12795106" cy="4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4"/>
              </a:lnSpc>
              <a:spcBef>
                <a:spcPct val="0"/>
              </a:spcBef>
            </a:pPr>
            <a:r>
              <a:rPr lang="en-US" sz="2310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Better coordination between admin and counselors enhances overall student retention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9161" y="-353316"/>
            <a:ext cx="5954157" cy="11239916"/>
            <a:chOff x="0" y="0"/>
            <a:chExt cx="1568173" cy="2960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8173" cy="2960307"/>
            </a:xfrm>
            <a:custGeom>
              <a:avLst/>
              <a:gdLst/>
              <a:ahLst/>
              <a:cxnLst/>
              <a:rect r="r" b="b" t="t" l="l"/>
              <a:pathLst>
                <a:path h="2960307" w="1568173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6519658"/>
            <a:ext cx="7613364" cy="576205"/>
            <a:chOff x="0" y="0"/>
            <a:chExt cx="2005166" cy="151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5166" cy="151758"/>
            </a:xfrm>
            <a:custGeom>
              <a:avLst/>
              <a:gdLst/>
              <a:ahLst/>
              <a:cxnLst/>
              <a:rect r="r" b="b" t="t" l="l"/>
              <a:pathLst>
                <a:path h="151758" w="2005166">
                  <a:moveTo>
                    <a:pt x="0" y="0"/>
                  </a:moveTo>
                  <a:lnTo>
                    <a:pt x="2005166" y="0"/>
                  </a:lnTo>
                  <a:lnTo>
                    <a:pt x="2005166" y="151758"/>
                  </a:lnTo>
                  <a:lnTo>
                    <a:pt x="0" y="151758"/>
                  </a:lnTo>
                  <a:close/>
                </a:path>
              </a:pathLst>
            </a:custGeom>
            <a:ln w="38100" cap="sq">
              <a:solidFill>
                <a:srgbClr val="EFF1E8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05166" cy="20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537412" y="2335920"/>
            <a:ext cx="7544812" cy="5910346"/>
          </a:xfrm>
          <a:custGeom>
            <a:avLst/>
            <a:gdLst/>
            <a:ahLst/>
            <a:cxnLst/>
            <a:rect r="r" b="b" t="t" l="l"/>
            <a:pathLst>
              <a:path h="5910346" w="7544812">
                <a:moveTo>
                  <a:pt x="0" y="0"/>
                </a:moveTo>
                <a:lnTo>
                  <a:pt x="7544812" y="0"/>
                </a:lnTo>
                <a:lnTo>
                  <a:pt x="7544812" y="5910345"/>
                </a:lnTo>
                <a:lnTo>
                  <a:pt x="0" y="591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21876"/>
            <a:ext cx="10020426" cy="536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43"/>
              </a:lnSpc>
            </a:pPr>
            <a:r>
              <a:rPr lang="en-US" b="true" sz="19850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622875"/>
            <a:ext cx="635425" cy="635425"/>
          </a:xfrm>
          <a:custGeom>
            <a:avLst/>
            <a:gdLst/>
            <a:ahLst/>
            <a:cxnLst/>
            <a:rect r="r" b="b" t="t" l="l"/>
            <a:pathLst>
              <a:path h="635425" w="635425">
                <a:moveTo>
                  <a:pt x="0" y="0"/>
                </a:moveTo>
                <a:lnTo>
                  <a:pt x="635425" y="0"/>
                </a:lnTo>
                <a:lnTo>
                  <a:pt x="635425" y="635425"/>
                </a:lnTo>
                <a:lnTo>
                  <a:pt x="0" y="63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5902358"/>
            <a:ext cx="659567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pc="345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812" y="6562028"/>
            <a:ext cx="8227076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297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Questions? We'd love to hear from you.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87455"/>
            <a:ext cx="5282524" cy="3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SDAS - Student Dropout Analysis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DAHHsm3AGb4</dc:identifier>
  <dcterms:modified xsi:type="dcterms:W3CDTF">2011-08-01T06:04:30Z</dcterms:modified>
  <cp:revision>1</cp:revision>
  <dc:title>SDAS: Student Dropout Analysis System</dc:title>
</cp:coreProperties>
</file>